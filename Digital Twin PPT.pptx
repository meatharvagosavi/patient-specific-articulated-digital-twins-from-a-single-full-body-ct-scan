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21295C"/>
                </a:solidFill>
                <a:latin typeface="Arial"/>
              </a:rPr>
              <a:t>Skeletal Enclosure Stays High — Even in New Poses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Skeletal Enclosure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Upper Body</c:v>
                </c:pt>
                <c:pt idx="1">
                  <c:v>Torso</c:v>
                </c:pt>
                <c:pt idx="2">
                  <c:v>Lower Body</c:v>
                </c:pt>
                <c:pt idx="3">
                  <c:v>Overall</c:v>
                </c:pt>
                <c:pt idx="4">
                  <c:v>Unseen Pose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94.1</c:v>
                </c:pt>
                <c:pt idx="2">
                  <c:v>99</c:v>
                </c:pt>
                <c:pt idx="3">
                  <c:v>95.9</c:v>
                </c:pt>
                <c:pt idx="4">
                  <c:v>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8-4B3A-8457-5E5521327B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3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I am presenting the paper 'Patient-Specific Articulated Digital Twins from a Single Full-Body CT Scan' by Zhang, Zhao and Unberath from Johns Hopkins University. In short, this paper shows how to take one CT scan and turn it into a digital patient model that can be moved into different body 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CT scan freezes the patient in one position. But in real hospitals, X-rays and surgeries need many positions. Population phantoms can change pose but aren't the real patient; CT-based simulations are patient-specific but frozen. This paper's goal is to get both properties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compares three approaches. XCAT phantoms are posable but generic. CT-derived DRR simulation is patient-specific but frozen. The proposed twin is both, though it is currently only validated on 3 subjects. This gap in the literature is the direct motivation for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stages: (1) segment the CT and fit a parametric SMPL body model around the patient's real bones; (2) bind each bone rigidly to a joint, unlike normal smooth-skin animation; (3) retarget a new target pose onto the rig using forward kinematics. The loss function balances matching body shape, keeping bones inside the body, and keeping the pose realistic -- enclosure is prioritized over surface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patient end to end: CT scan, segmentation, the fitted digital twin at the scan pose, the same twin retargeted to a new pose such as a raised arm, and finally a synthetic X-ray rendered from that new pose. Emphasize the LEGO-and-glove analogy: bones are rigid pieces, SMPL is the flexible outer layer that carries the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metric simply: Chamfer distance is average surface gap (~16mm, small at body scale). Enclosure (~96%) means almost all real bone stays inside the fitted body envelope. SSIM (0.87) and PSNR show the synthetic X-ray closely matches structure of a real one. Crucially, enclosure stays high (94.4%) even in 28 brand-new, unseen poses -- showing the rig does not break down when articulated.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contributions, be upfront about limitations (only 3 subjects, rigid organ movement, extreme-pose artifacts), and close with future work and applications: surgical planning, generating synthetic training data for AI, image-guided intervention, and patient positioning studies. End with the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PATIENT-SPECIFIC ARTICULATED DIGITAL TWINS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Full-Body CT Scan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3429000"/>
            <a:ext cx="2926080" cy="0"/>
          </a:xfrm>
          <a:prstGeom prst="line">
            <a:avLst/>
          </a:prstGeom>
          <a:noFill/>
          <a:ln w="31750">
            <a:solidFill>
              <a:srgbClr val="F2A1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Zhang, Boyang Zhao, Mathias Unberath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Hopkins University, Baltimore, USA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arXiv:2607.02156v1 [cs.CV],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98348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138928"/>
            <a:ext cx="7040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R. Gosavi  (Roll No. 252SP009)
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M.Tech. SPML, Dept. of Electronics &amp; Communication Engineering
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Amareswararao Kavuri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2468880"/>
            <a:ext cx="2103120" cy="2103120"/>
          </a:xfrm>
          <a:prstGeom prst="ellipse">
            <a:avLst/>
          </a:prstGeom>
          <a:solidFill>
            <a:srgbClr val="2C3768"/>
          </a:solidFill>
          <a:ln/>
        </p:spPr>
      </p:sp>
      <p:pic>
        <p:nvPicPr>
          <p:cNvPr id="11" name="Image 0" descr="/home/claude/twin_ppt/icons/xr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0" y="2994660"/>
            <a:ext cx="1051560" cy="1051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66760" y="4709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Radiography · Surgical Planning · Patient Modeling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1 of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 Digital Twin of a Patient?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Real-World Motivation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5" name="Image 0" descr="/home/claude/twin_ppt/icons/medical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6" y="1633576"/>
            <a:ext cx="344729" cy="3447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904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1764792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 scan captures a patient's body in only ONE position (lying flat). It cannot show how the same anatomy would look if the patient moved or was repositioned.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9" name="Image 1" descr="/home/claude/twin_ppt/icons/docto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6" y="2804008"/>
            <a:ext cx="344729" cy="3447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60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2935224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hospitals, X-rays and surgeries need the patient in different poses. A frozen, single-pose model cannot help plan or simulate this.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594360" cy="59436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3" name="Image 2" descr="/home/claude/twin_ppt/icons/pos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6" y="3974440"/>
            <a:ext cx="344729" cy="3447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8313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105656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planning, image-guided procedures, positioning studies, and training AI models on realistic X-ray images all need pose-flexible anatomy.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40880" y="1463040"/>
            <a:ext cx="46177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8C9BAB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223760" y="16002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CT  vs.  Articulated Twin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452360" y="2148840"/>
            <a:ext cx="1371600" cy="13716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9" name="Image 3" descr="/home/claude/twin_ppt/icons/skeleto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2423160"/>
            <a:ext cx="822960" cy="8229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(scan-time only)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189720" y="2606040"/>
            <a:ext cx="502920" cy="365760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22" name="Shape 16"/>
          <p:cNvSpPr/>
          <p:nvPr/>
        </p:nvSpPr>
        <p:spPr>
          <a:xfrm>
            <a:off x="9921240" y="2148840"/>
            <a:ext cx="1371600" cy="13716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23" name="Image 4" descr="/home/claude/twin_ppt/icons/bodybalanc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2423160"/>
            <a:ext cx="822960" cy="8229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469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(posable twin)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269480" y="4297680"/>
            <a:ext cx="4251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269480" y="44348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scanned once (supine) can be virtually re-posed — standing, arms raised, bending — while keeping their OWN real anatomy.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5806440"/>
            <a:ext cx="11109960" cy="621792"/>
          </a:xfrm>
          <a:prstGeom prst="roundRect">
            <a:avLst>
              <a:gd name="adj" fmla="val 10294"/>
            </a:avLst>
          </a:prstGeom>
          <a:solidFill>
            <a:srgbClr val="21295C"/>
          </a:solidFill>
          <a:ln/>
        </p:spPr>
      </p:sp>
      <p:sp>
        <p:nvSpPr>
          <p:cNvPr id="28" name="Text 21"/>
          <p:cNvSpPr/>
          <p:nvPr/>
        </p:nvSpPr>
        <p:spPr>
          <a:xfrm>
            <a:off x="777240" y="5806440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turns a single static CT scan into a posable, patient-specific digital twin.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2 of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methods get wrong, and the gap this paper fills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2468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Patient-Specific?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Posable?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Drawback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Population phantom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(e.g., XCAT)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✗ No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✓ Yes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Uses a generic template body, not the real patient anatomy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CT-derived DRR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simulation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✓ Yes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✗ No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Anatomy is frozen in the pose captured at scan time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Proposed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Articulated Twin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✓ Yes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7A34"/>
                          </a:solidFill>
                        </a:rPr>
                        <a:t>✓ Yes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Proof-of-concept, tested on only 3 subjects so far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46304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Flow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41080" y="2057400"/>
            <a:ext cx="502920" cy="50292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8" name="Image 0" descr="/home/claude/twin_ppt/icons/targe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215798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1160" y="20299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281160" y="227685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both patient-specific AND posable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8805672" y="2953512"/>
            <a:ext cx="182880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2" name="Shape 8"/>
          <p:cNvSpPr/>
          <p:nvPr/>
        </p:nvSpPr>
        <p:spPr>
          <a:xfrm>
            <a:off x="8641080" y="3355848"/>
            <a:ext cx="502920" cy="50292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3" name="Image 1" descr="/home/claude/twin_ppt/icons/bulb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3456432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81160" y="33284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281160" y="3575304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CT anatomy with a posable body model (SMPL)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8805672" y="4251960"/>
            <a:ext cx="182880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7" name="Shape 12"/>
          <p:cNvSpPr/>
          <p:nvPr/>
        </p:nvSpPr>
        <p:spPr>
          <a:xfrm>
            <a:off x="8641080" y="4654296"/>
            <a:ext cx="502920" cy="50292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8" name="Image 2" descr="/home/claude/twin_ppt/icons/flas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4754880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462686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9281160" y="48737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Articulated digital twin from ONE CT scan</a:t>
            </a:r>
            <a:endParaRPr lang="en-US" sz="980" dirty="0"/>
          </a:p>
        </p:txBody>
      </p:sp>
      <p:sp>
        <p:nvSpPr>
          <p:cNvPr id="21" name="Text 15"/>
          <p:cNvSpPr/>
          <p:nvPr/>
        </p:nvSpPr>
        <p:spPr>
          <a:xfrm>
            <a:off x="54864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important? Existing radiographic simulation can change the CAMERA angle but not the PATIENT's body position — this paper fixes that.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3 of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How the Digital Twin Is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turn a raw CT scan into a posable patient twin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572768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twin_ppt/icons/lay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839" y="1747647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5059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 Anatomical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9992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TotalSegmentator labels bone, organs &amp; body from CT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+ smoothing → 3D surface meshes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SMPL body model (shape β, pose θ) to patient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static twin in scan pose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69664" y="2866644"/>
            <a:ext cx="146304" cy="256032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10" name="Shape 7"/>
          <p:cNvSpPr/>
          <p:nvPr/>
        </p:nvSpPr>
        <p:spPr>
          <a:xfrm>
            <a:off x="4325112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42432" y="1572768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/home/claude/twin_ppt/icons/sync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311" y="1747647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245059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Anatomy-Aware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Binding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81144" y="29992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skeleton tree rooted at the pelvis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bone rigidly linked to one joint (no blending)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centers taken from real bone-to-bone contacts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patient-specific rig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46136" y="2866644"/>
            <a:ext cx="146304" cy="256032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16" name="Shape 12"/>
          <p:cNvSpPr/>
          <p:nvPr/>
        </p:nvSpPr>
        <p:spPr>
          <a:xfrm>
            <a:off x="8101584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18904" y="1572768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/home/claude/twin_ppt/icons/bodybalanc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783" y="1747647"/>
            <a:ext cx="427482" cy="4274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245059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Pose Retargeting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57616" y="29992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target pose (e.g., from motion-capture data)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joint rotations from scan pose → target pose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rotations rigidly to bones &amp; organ groups</a:t>
            </a:r>
            <a:endParaRPr lang="en-US" sz="100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reposed twin, renderable as a new X-ray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828032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E7EAF4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4937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Fitting Objective (in plain terms)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λ</a:t>
            </a:r>
            <a:r>
              <a:rPr lang="en-US" sz="1250" baseline="-40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·(match outer body shape)  +  λ</a:t>
            </a:r>
            <a:r>
              <a:rPr lang="en-US" sz="1250" baseline="-40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·(keep bones INSIDE the body)  +  λ</a:t>
            </a:r>
            <a:r>
              <a:rPr lang="en-US" sz="1250" baseline="-40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·(keep pose realistic)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77240" y="5650992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idea: the fitted body "envelope" is optimized to fully enclose the patient's real bones — enclosing the skeleton matters more than perfectly matching the skin surface, because CT is scanned lying down while the body model assumes standing.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4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One Patient, Start to Finish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single CT scan through all five stages of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6384" y="169164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0744" y="1856232"/>
            <a:ext cx="685800" cy="6858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6" name="Image 0" descr="/home/claude/twin_ppt/icons/medical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19933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624328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Full-Body CT Scan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7824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lies flat and is scanned once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679192" y="2510028"/>
            <a:ext cx="274320" cy="237744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10" name="Shape 7"/>
          <p:cNvSpPr/>
          <p:nvPr/>
        </p:nvSpPr>
        <p:spPr>
          <a:xfrm>
            <a:off x="2971800" y="169164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856232"/>
            <a:ext cx="685800" cy="6858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2" name="Image 1" descr="/home/claude/twin_ppt/icons/skeleto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9933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4952" y="2624328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63240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TotalSegmentator labels bones, organs &amp; skin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4864608" y="2510028"/>
            <a:ext cx="274320" cy="237744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7216" y="169164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51576" y="1856232"/>
            <a:ext cx="685800" cy="6858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8" name="Image 2" descr="/home/claude/twin_ppt/icons/bon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199339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2624328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Digital Twin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48656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body fitted around the real skeleton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7050024" y="2510028"/>
            <a:ext cx="274320" cy="237744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22" name="Shape 17"/>
          <p:cNvSpPr/>
          <p:nvPr/>
        </p:nvSpPr>
        <p:spPr>
          <a:xfrm>
            <a:off x="7342632" y="169164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8C9BAB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36992" y="1856232"/>
            <a:ext cx="685800" cy="6858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24" name="Image 3" descr="/home/claude/twin_ppt/icons/bodybalanc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99339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15784" y="2624328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Reposed Twin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34072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to a new pose, e.g. arm raised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9235440" y="2510028"/>
            <a:ext cx="274320" cy="237744"/>
          </a:xfrm>
          <a:prstGeom prst="rightArrow">
            <a:avLst/>
          </a:prstGeom>
          <a:solidFill>
            <a:srgbClr val="F2A104"/>
          </a:solidFill>
          <a:ln/>
        </p:spPr>
      </p:sp>
      <p:sp>
        <p:nvSpPr>
          <p:cNvPr id="28" name="Shape 22"/>
          <p:cNvSpPr/>
          <p:nvPr/>
        </p:nvSpPr>
        <p:spPr>
          <a:xfrm>
            <a:off x="9528048" y="1691640"/>
            <a:ext cx="1874520" cy="1874520"/>
          </a:xfrm>
          <a:prstGeom prst="roundRect">
            <a:avLst>
              <a:gd name="adj" fmla="val 439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63500" dist="25400" dir="5400000" algn="bl" rotWithShape="0">
              <a:srgbClr val="8C9BAB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22408" y="18562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twin_ppt/icons/xra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568" y="199339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0" y="2624328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X-Ray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619488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rendered in the NEW pose</a:t>
            </a:r>
            <a:endParaRPr lang="en-US" sz="870" dirty="0"/>
          </a:p>
        </p:txBody>
      </p:sp>
      <p:sp>
        <p:nvSpPr>
          <p:cNvPr id="33" name="Shape 26"/>
          <p:cNvSpPr/>
          <p:nvPr/>
        </p:nvSpPr>
        <p:spPr>
          <a:xfrm>
            <a:off x="548640" y="3886200"/>
            <a:ext cx="11109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7240" y="4023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Really Happening Here?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868680" y="4407408"/>
            <a:ext cx="10607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skeleton as LEGO bricks and the SMPL body model as a stretchy glove that fits around them.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glove is first shaped to exactly match how the patient was lying during the scan.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the pose, we tell the glove "raise the right arm" — and because each bone is rigidly attached to a joint, the real bones move together, exactly like a puppet's skeleton, without warping.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rendered as a new, physically-consistent synthetic X-ray for the new pose — something a single CT scan alone could never show.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5 of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How Good Is the Digital Twin?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3 full-body CT subjects from the NMDID dataset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04088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Chamfer (mm) ↓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Enclosure (%) ↑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SSIM ↑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PSNR (dB) ↑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Upper body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15.7 ± 2.9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95.0 ± 2.4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0.890 ± 0.007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19.6 ± 1.3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Torso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16.2 ± 3.5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94.1 ± 2.4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0.872 ± 0.026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17.5 ± 1.0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Lower body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16.5 ± 4.8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99.0 ± 0.4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0.855 ± 0.035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</a:rPr>
                        <a:t>18.4 ± 2.6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</a:rPr>
                        <a:t>Overall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</a:rPr>
                        <a:t>15.8 ± 4.0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</a:rPr>
                        <a:t>95.9 ± 1.8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</a:rPr>
                        <a:t>0.872 ± 0.016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</a:rPr>
                        <a:t>18.5 ± 1.4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48640" y="3520440"/>
          <a:ext cx="66751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452360" y="137160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7680960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Numbers Mean?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35240" y="1920240"/>
            <a:ext cx="457200" cy="4572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9" name="Image 0" descr="/home/claude/twin_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0116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1312" y="1901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distance ~16 mm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211312" y="22677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between the fitted body surface and the real CT surface — small relative to a full-body scale.</a:t>
            </a:r>
            <a:endParaRPr lang="en-US" sz="970" dirty="0"/>
          </a:p>
        </p:txBody>
      </p:sp>
      <p:sp>
        <p:nvSpPr>
          <p:cNvPr id="12" name="Shape 7"/>
          <p:cNvSpPr/>
          <p:nvPr/>
        </p:nvSpPr>
        <p:spPr>
          <a:xfrm>
            <a:off x="7635240" y="2999232"/>
            <a:ext cx="457200" cy="4572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3" name="Image 1" descr="/home/claude/twin_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0906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1312" y="29809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~96%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211312" y="334670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the real skeleton sits safely inside the fitted body envelope — the twin doesn't "lose" any bone.</a:t>
            </a:r>
            <a:endParaRPr lang="en-US" sz="970" dirty="0"/>
          </a:p>
        </p:txBody>
      </p:sp>
      <p:sp>
        <p:nvSpPr>
          <p:cNvPr id="16" name="Shape 10"/>
          <p:cNvSpPr/>
          <p:nvPr/>
        </p:nvSpPr>
        <p:spPr>
          <a:xfrm>
            <a:off x="7635240" y="4078224"/>
            <a:ext cx="457200" cy="4572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17" name="Image 2" descr="/home/claude/twin_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41696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11312" y="40599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0.87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8211312" y="442569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X-rays closely match the structure of a real X-ray at the same pose (1.0 = identical).</a:t>
            </a:r>
            <a:endParaRPr lang="en-US" sz="970" dirty="0"/>
          </a:p>
        </p:txBody>
      </p:sp>
      <p:sp>
        <p:nvSpPr>
          <p:cNvPr id="20" name="Shape 13"/>
          <p:cNvSpPr/>
          <p:nvPr/>
        </p:nvSpPr>
        <p:spPr>
          <a:xfrm>
            <a:off x="7635240" y="5157216"/>
            <a:ext cx="457200" cy="457200"/>
          </a:xfrm>
          <a:prstGeom prst="ellipse">
            <a:avLst/>
          </a:prstGeom>
          <a:solidFill>
            <a:srgbClr val="E7EAF4"/>
          </a:solidFill>
          <a:ln/>
        </p:spPr>
      </p:sp>
      <p:pic>
        <p:nvPicPr>
          <p:cNvPr id="21" name="Image 3" descr="/home/claude/twin_ppt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5248656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11312" y="51389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holds at 94.4% in NEW poses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8211312" y="55046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articulating into 28 unseen poses, the rig stays intact — no skeleton "breaking out" of the body.</a:t>
            </a:r>
            <a:endParaRPr lang="en-US" sz="970" dirty="0"/>
          </a:p>
        </p:txBody>
      </p:sp>
      <p:sp>
        <p:nvSpPr>
          <p:cNvPr id="25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6 of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2C376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46304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CT scan to a living, posable patient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twin_ppt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85" y="189166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32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patient-specific twin that is both accurate AND posable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pipeline: fit → bind → retarget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Pose-dependent synthetic X-ray (DRR) generation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325112" y="150876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88152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twin_ppt/icons/targ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457" y="189166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2532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81144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tested on only 3 patients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Organs/soft tissue move as rigid blocks, not true deformation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poses may cause hand/joint mismatches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8101584" y="150876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2C376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64624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twin_ppt/icons/bulb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929" y="18916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2532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Applications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57616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patient cohorts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realistic positioning scenarios</a:t>
            </a:r>
            <a:endParaRPr lang="en-US" sz="103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planning, AI training data, image-guided intervention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2A104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544068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CT scan no longer has to be frozen in time — it can become a dynamic, patient-specific twin that moves.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Articulated Digital Twins  |  Slide 7 of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1621</Words>
  <Application>Microsoft Office PowerPoint</Application>
  <PresentationFormat>Widescreen</PresentationFormat>
  <Paragraphs>161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Atharva Rajesh Gosavi CS20252505</cp:lastModifiedBy>
  <cp:revision>1</cp:revision>
  <dcterms:created xsi:type="dcterms:W3CDTF">2026-07-19T17:07:21Z</dcterms:created>
  <dcterms:modified xsi:type="dcterms:W3CDTF">2026-07-19T17:11:13Z</dcterms:modified>
</cp:coreProperties>
</file>